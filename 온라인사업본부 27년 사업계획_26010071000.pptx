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147481375" r:id="rId5"/>
    <p:sldId id="2147481697" r:id="rId6"/>
    <p:sldId id="2147481826" r:id="rId7"/>
    <p:sldId id="2147481926" r:id="rId8"/>
    <p:sldId id="2147481927" r:id="rId9"/>
    <p:sldId id="2147481928" r:id="rId10"/>
    <p:sldId id="2147481938" r:id="rId11"/>
    <p:sldId id="2147481904" r:id="rId12"/>
    <p:sldId id="2147481929" r:id="rId13"/>
    <p:sldId id="2147481930" r:id="rId14"/>
    <p:sldId id="2147481931" r:id="rId15"/>
    <p:sldId id="2147481932" r:id="rId16"/>
    <p:sldId id="2147481933" r:id="rId17"/>
    <p:sldId id="2147481934" r:id="rId18"/>
    <p:sldId id="2147481935" r:id="rId19"/>
    <p:sldId id="2147481936" r:id="rId20"/>
    <p:sldId id="2147481937" r:id="rId21"/>
    <p:sldId id="2147481924" r:id="rId22"/>
  </p:sldIdLst>
  <p:sldSz cx="12192000" cy="6858000"/>
  <p:notesSz cx="6797675" cy="9926638"/>
  <p:custDataLst>
    <p:tags r:id="rId25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8546AEC-89D7-43EE-A577-D105B68D39C8}">
          <p14:sldIdLst>
            <p14:sldId id="2147481375"/>
            <p14:sldId id="2147481697"/>
            <p14:sldId id="2147481826"/>
            <p14:sldId id="2147481926"/>
            <p14:sldId id="2147481927"/>
            <p14:sldId id="2147481928"/>
            <p14:sldId id="2147481938"/>
            <p14:sldId id="2147481904"/>
            <p14:sldId id="2147481929"/>
            <p14:sldId id="2147481930"/>
            <p14:sldId id="2147481931"/>
            <p14:sldId id="2147481932"/>
            <p14:sldId id="2147481933"/>
            <p14:sldId id="2147481934"/>
            <p14:sldId id="2147481935"/>
            <p14:sldId id="2147481936"/>
            <p14:sldId id="2147481937"/>
            <p14:sldId id="2147481924"/>
          </p14:sldIdLst>
        </p14:section>
        <p14:section name="첨부" id="{DF360670-66DD-4637-9BF1-593401171C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상협" initials="A" lastIdx="2" clrIdx="0">
    <p:extLst>
      <p:ext uri="{19B8F6BF-5375-455C-9EA6-DF929625EA0E}">
        <p15:presenceInfo xmlns:p15="http://schemas.microsoft.com/office/powerpoint/2012/main" userId="이상협" providerId="None"/>
      </p:ext>
    </p:extLst>
  </p:cmAuthor>
  <p:cmAuthor id="2" name="AD1907004P01" initials="A" lastIdx="0" clrIdx="1">
    <p:extLst>
      <p:ext uri="{19B8F6BF-5375-455C-9EA6-DF929625EA0E}">
        <p15:presenceInfo xmlns:p15="http://schemas.microsoft.com/office/powerpoint/2012/main" userId="AD1907004P01" providerId="None"/>
      </p:ext>
    </p:extLst>
  </p:cmAuthor>
  <p:cmAuthor id="3" name="이다교|대리|다이소|온라인운영지원부" initials="이" lastIdx="1" clrIdx="2">
    <p:extLst>
      <p:ext uri="{19B8F6BF-5375-455C-9EA6-DF929625EA0E}">
        <p15:presenceInfo xmlns:p15="http://schemas.microsoft.com/office/powerpoint/2012/main" userId="이다교|대리|다이소|온라인운영지원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0FF"/>
    <a:srgbClr val="F7F8F9"/>
    <a:srgbClr val="009A9A"/>
    <a:srgbClr val="E6F5F5"/>
    <a:srgbClr val="FEF4F4"/>
    <a:srgbClr val="000000"/>
    <a:srgbClr val="92D050"/>
    <a:srgbClr val="FFC5D3"/>
    <a:srgbClr val="0000FF"/>
    <a:srgbClr val="EFEFE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6173" autoAdjust="0"/>
  </p:normalViewPr>
  <p:slideViewPr>
    <p:cSldViewPr snapToGrid="0">
      <p:cViewPr>
        <p:scale>
          <a:sx n="100" d="100"/>
          <a:sy n="100" d="100"/>
        </p:scale>
        <p:origin x="624" y="192"/>
      </p:cViewPr>
      <p:guideLst>
        <p:guide orient="horz" pos="113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564" y="10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4"/>
          <c:y val="0.08"/>
          <c:w val="0.92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잔존율</c:v>
                </c:pt>
              </c:strCache>
            </c:strRef>
          </c:tx>
          <c:spPr>
            <a:ln w="28575">
              <a:solidFill>
                <a:srgbClr val="009A9A"/>
              </a:solidFill>
              <a:round/>
            </a:ln>
          </c:spPr>
          <c:marker>
            <c:symbol val="circle"/>
            <c:size val="5"/>
            <c:spPr>
              <a:solidFill>
                <a:srgbClr val="009A9A"/>
              </a:solidFill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A4-4CC0-AECB-265BD1DB350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A4-4CC0-AECB-265BD1DB350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A4-4CC0-AECB-265BD1DB350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A4-4CC0-AECB-265BD1DB350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A4-4CC0-AECB-265BD1DB350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A4-4CC0-AECB-265BD1DB350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A4-4CC0-AECB-265BD1DB350D}"/>
                </c:ext>
              </c:extLst>
            </c:dLbl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0F172A"/>
                    </a:solidFill>
                    <a:latin typeface="맑은 고딕"/>
                    <a:ea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M6</c:v>
                </c:pt>
                <c:pt idx="5">
                  <c:v>M9</c:v>
                </c:pt>
                <c:pt idx="6">
                  <c:v>M12</c:v>
                </c:pt>
                <c:pt idx="7">
                  <c:v>M18</c:v>
                </c:pt>
                <c:pt idx="8">
                  <c:v>M24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0.155</c:v>
                </c:pt>
                <c:pt idx="1">
                  <c:v>0.13200000000000001</c:v>
                </c:pt>
                <c:pt idx="2">
                  <c:v>0.12</c:v>
                </c:pt>
                <c:pt idx="3">
                  <c:v>0.115</c:v>
                </c:pt>
                <c:pt idx="4">
                  <c:v>0.112</c:v>
                </c:pt>
                <c:pt idx="5">
                  <c:v>0.111</c:v>
                </c:pt>
                <c:pt idx="6">
                  <c:v>0.11</c:v>
                </c:pt>
                <c:pt idx="7">
                  <c:v>0.111</c:v>
                </c:pt>
                <c:pt idx="8">
                  <c:v>0.111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FA4-4CC0-AECB-265BD1DB3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17"/>
          <c:min val="0.08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978534581957198E-2"/>
          <c:y val="6.4007433476025166E-2"/>
          <c:w val="0.95093250772877413"/>
          <c:h val="0.72714414593145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740</c:v>
                </c:pt>
                <c:pt idx="1">
                  <c:v>1200</c:v>
                </c:pt>
                <c:pt idx="2">
                  <c:v>1980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9-4CDD-B89B-A5F2CE81E2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746</c:v>
                </c:pt>
                <c:pt idx="1">
                  <c:v>1400</c:v>
                </c:pt>
                <c:pt idx="2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49-4CDD-B89B-A5F2CE81E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1556899327"/>
        <c:axId val="1525358831"/>
      </c:barChart>
      <c:catAx>
        <c:axId val="155689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5358831"/>
        <c:crosses val="autoZero"/>
        <c:auto val="1"/>
        <c:lblAlgn val="ctr"/>
        <c:lblOffset val="100"/>
        <c:noMultiLvlLbl val="0"/>
      </c:catAx>
      <c:valAx>
        <c:axId val="1525358831"/>
        <c:scaling>
          <c:orientation val="minMax"/>
          <c:min val="500"/>
        </c:scaling>
        <c:delete val="1"/>
        <c:axPos val="l"/>
        <c:numFmt formatCode="General" sourceLinked="1"/>
        <c:majorTickMark val="none"/>
        <c:minorTickMark val="none"/>
        <c:tickLblPos val="nextTo"/>
        <c:crossAx val="1556899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7.8023756645803896E-2"/>
                  <c:y val="-4.44995988653685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6F-46AD-B6A9-68163A197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-0.05</c:v>
                </c:pt>
                <c:pt idx="1">
                  <c:v>0</c:v>
                </c:pt>
                <c:pt idx="2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6F-46AD-B6A9-68163A1971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-0.02</c:v>
                </c:pt>
                <c:pt idx="1">
                  <c:v>0.02</c:v>
                </c:pt>
                <c:pt idx="2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6F-46AD-B6A9-68163A197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0506943"/>
        <c:axId val="1530884831"/>
      </c:lineChart>
      <c:catAx>
        <c:axId val="153050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30884831"/>
        <c:crossesAt val="-7.0000000000000007E-2"/>
        <c:auto val="1"/>
        <c:lblAlgn val="ctr"/>
        <c:lblOffset val="100"/>
        <c:noMultiLvlLbl val="0"/>
      </c:catAx>
      <c:valAx>
        <c:axId val="15308848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3050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2"/>
          <c:w val="0.94"/>
          <c:h val="0.6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진입</c:v>
                </c:pt>
                <c:pt idx="1">
                  <c:v>진입
이탈</c:v>
                </c:pt>
                <c:pt idx="2">
                  <c:v>본인인증
이탈</c:v>
                </c:pt>
                <c:pt idx="3">
                  <c:v>정보입력
이탈</c:v>
                </c:pt>
                <c:pt idx="4">
                  <c:v>가입
완료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80.400000000000006</c:v>
                </c:pt>
                <c:pt idx="2">
                  <c:v>59.1</c:v>
                </c:pt>
                <c:pt idx="3">
                  <c:v>52.4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EF-4868-82AB-9A1ABABA86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A6A6A6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5959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DEF-4868-82AB-9A1ABABA8671}"/>
              </c:ext>
            </c:extLst>
          </c:dPt>
          <c:dPt>
            <c:idx val="1"/>
            <c:invertIfNegative val="0"/>
            <c:bubble3D val="0"/>
            <c:spPr>
              <a:solidFill>
                <a:srgbClr val="F4C7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7DEF-4868-82AB-9A1ABABA8671}"/>
              </c:ext>
            </c:extLst>
          </c:dPt>
          <c:dPt>
            <c:idx val="2"/>
            <c:invertIfNegative val="0"/>
            <c:bubble3D val="0"/>
            <c:spPr>
              <a:solidFill>
                <a:srgbClr val="D002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DEF-4868-82AB-9A1ABABA8671}"/>
              </c:ext>
            </c:extLst>
          </c:dPt>
          <c:dPt>
            <c:idx val="3"/>
            <c:invertIfNegative val="0"/>
            <c:bubble3D val="0"/>
            <c:spPr>
              <a:solidFill>
                <a:srgbClr val="F4C7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7DEF-4868-82AB-9A1ABABA8671}"/>
              </c:ext>
            </c:extLst>
          </c:dPt>
          <c:dPt>
            <c:idx val="4"/>
            <c:invertIfNegative val="0"/>
            <c:bubble3D val="0"/>
            <c:spPr>
              <a:solidFill>
                <a:srgbClr val="009A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7DEF-4868-82AB-9A1ABABA8671}"/>
              </c:ext>
            </c:extLst>
          </c:dPt>
          <c:cat>
            <c:strRef>
              <c:f>Sheet1!$A$2:$A$6</c:f>
              <c:strCache>
                <c:ptCount val="5"/>
                <c:pt idx="0">
                  <c:v>진입</c:v>
                </c:pt>
                <c:pt idx="1">
                  <c:v>진입
이탈</c:v>
                </c:pt>
                <c:pt idx="2">
                  <c:v>본인인증
이탈</c:v>
                </c:pt>
                <c:pt idx="3">
                  <c:v>정보입력
이탈</c:v>
                </c:pt>
                <c:pt idx="4">
                  <c:v>가입
완료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84.5</c:v>
                </c:pt>
                <c:pt idx="1">
                  <c:v>4.0999999999999996</c:v>
                </c:pt>
                <c:pt idx="2">
                  <c:v>21.3</c:v>
                </c:pt>
                <c:pt idx="3">
                  <c:v>6.7</c:v>
                </c:pt>
                <c:pt idx="4">
                  <c:v>52.4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A6A6A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7DEF-4868-82AB-9A1ABABA8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E329E-D9A3-4E51-8CF7-DDDA2A2B1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65F28-D046-4EB2-B490-7CF3467E5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923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DDFD8-18C4-4053-8E3F-F7988E814C25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90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370D6-86E2-4B7B-BB55-338A4655A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71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4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0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01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5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408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42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064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456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01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C26DE2C-FCE4-0A4E-A5B5-C69DE596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0770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9" name="think-cell 슬라이드" r:id="rId4" imgW="592" imgH="595" progId="TCLayout.ActiveDocument.1">
                  <p:embed/>
                </p:oleObj>
              </mc:Choice>
              <mc:Fallback>
                <p:oleObj name="think-cell 슬라이드" r:id="rId4" imgW="592" imgH="59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26DE2C-FCE4-0A4E-A5B5-C69DE596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44F6-DFCA-4684-B145-45078173030D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410949" y="6612832"/>
            <a:ext cx="783747" cy="230747"/>
          </a:xfrm>
        </p:spPr>
        <p:txBody>
          <a:bodyPr/>
          <a:lstStyle>
            <a:lvl1pPr>
              <a:defRPr sz="1000"/>
            </a:lvl1pPr>
          </a:lstStyle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‹#›</a:t>
            </a:fld>
            <a:r>
              <a:rPr lang="en-US" altLang="ko-KR" dirty="0"/>
              <a:t> l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83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4D071DC-7593-4A65-48F6-91C335F599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05156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think-cell 슬라이드" r:id="rId4" imgW="592" imgH="595" progId="TCLayout.ActiveDocument.1">
                  <p:embed/>
                </p:oleObj>
              </mc:Choice>
              <mc:Fallback>
                <p:oleObj name="think-cell 슬라이드" r:id="rId4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D071DC-7593-4A65-48F6-91C335F599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995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B2BDBA9-20D8-FA31-549F-A6B60B2EF7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308809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" name="think-cell 슬라이드" r:id="rId6" imgW="592" imgH="595" progId="TCLayout.ActiveDocument.1">
                  <p:embed/>
                </p:oleObj>
              </mc:Choice>
              <mc:Fallback>
                <p:oleObj name="think-cell 슬라이드" r:id="rId6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2BDBA9-20D8-FA31-549F-A6B60B2EF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2F57-76DA-4078-8CE3-179BA0A6F44D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B5F83-15D8-40F8-9CC2-700DDE7315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85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3.xml"/><Relationship Id="rId9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4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04E8028-F2D2-991F-189B-2DE424B96C2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4E8028-F2D2-991F-189B-2DE424B96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42545" y="4228902"/>
            <a:ext cx="270691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ko-KR" altLang="en-US" sz="1400" b="1" dirty="0">
                <a:ea typeface="맑은 고딕"/>
              </a:rPr>
              <a:t>발표자 </a:t>
            </a:r>
            <a:r>
              <a:rPr lang="en-US" altLang="ko-KR" sz="1400" b="1" dirty="0">
                <a:ea typeface="맑은 고딕"/>
              </a:rPr>
              <a:t>: </a:t>
            </a:r>
            <a:r>
              <a:rPr lang="ko-KR" altLang="en-US" sz="1400" b="1" dirty="0" err="1">
                <a:ea typeface="맑은 고딕"/>
              </a:rPr>
              <a:t>조태진</a:t>
            </a:r>
            <a:r>
              <a:rPr lang="ko-KR" altLang="en-US" sz="1400" b="1" dirty="0">
                <a:ea typeface="맑은 고딕"/>
              </a:rPr>
              <a:t> 본부장</a:t>
            </a:r>
            <a:r>
              <a:rPr lang="en-US" altLang="ko-KR" sz="1400" b="1" dirty="0">
                <a:ea typeface="맑은 고딕"/>
              </a:rPr>
              <a:t>(</a:t>
            </a:r>
            <a:r>
              <a:rPr lang="ko-KR" altLang="en-US" sz="1400" b="1" dirty="0">
                <a:ea typeface="맑은 고딕"/>
              </a:rPr>
              <a:t>상무)</a:t>
            </a:r>
            <a:endParaRPr lang="en-US" altLang="ko-KR" sz="1400" b="1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2545" y="5934157"/>
            <a:ext cx="2706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온라인사업본부</a:t>
            </a:r>
            <a:endParaRPr lang="en-US" altLang="ko-KR" sz="1400" b="1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42545" y="6249095"/>
            <a:ext cx="2706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1400" b="1" dirty="0"/>
              <a:t>2026</a:t>
            </a:r>
            <a:r>
              <a:rPr lang="ko-KR" altLang="en-US" sz="1400" b="1" dirty="0"/>
              <a:t>년  </a:t>
            </a:r>
            <a:r>
              <a:rPr lang="en-US" altLang="ko-KR" sz="1400" b="1" dirty="0"/>
              <a:t>9</a:t>
            </a:r>
            <a:r>
              <a:rPr lang="ko-KR" altLang="en-US" sz="1400" b="1" dirty="0"/>
              <a:t>월 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일</a:t>
            </a:r>
            <a:endParaRPr lang="en-US" altLang="ko-KR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15033" y="1874126"/>
            <a:ext cx="10161935" cy="5749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ea typeface="맑은 고딕"/>
              </a:rPr>
              <a:t>온라인사업본부 </a:t>
            </a:r>
            <a:r>
              <a:rPr lang="en-US" altLang="ko-KR" sz="2400" b="1" dirty="0">
                <a:ea typeface="맑은 고딕"/>
              </a:rPr>
              <a:t>27</a:t>
            </a:r>
            <a:r>
              <a:rPr lang="ko-KR" altLang="en-US" sz="2400" b="1" dirty="0">
                <a:ea typeface="맑은 고딕"/>
              </a:rPr>
              <a:t>년 사업전략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 rot="10800000" flipV="1">
            <a:off x="9828362" y="220133"/>
            <a:ext cx="2092703" cy="2751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spc="-100" dirty="0" err="1">
                <a:solidFill>
                  <a:schemeClr val="tx1"/>
                </a:solidFill>
                <a:latin typeface="맑은 고딕"/>
                <a:ea typeface="맑은 고딕"/>
              </a:rPr>
              <a:t>컨퍼런스콜</a:t>
            </a:r>
            <a:endParaRPr lang="en-US" altLang="ko-KR" sz="1000" b="1" spc="-1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/>
          <p:cNvSpPr/>
          <p:nvPr/>
        </p:nvSpPr>
        <p:spPr>
          <a:xfrm rot="10800000" flipV="1">
            <a:off x="9828362" y="495301"/>
            <a:ext cx="2092703" cy="2751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ea typeface="맑은 고딕"/>
              </a:rPr>
              <a:t>2026.9.1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4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b="1" dirty="0"/>
              <a:t>보고 요약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C8FC6A-897F-40CF-9CDB-AC7000CB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2</a:t>
            </a:fld>
            <a:r>
              <a:rPr lang="en-US" altLang="ko-KR"/>
              <a:t> l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986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0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 err="1">
                <a:ea typeface="맑은 고딕"/>
              </a:rPr>
              <a:t>이커머스</a:t>
            </a:r>
            <a:r>
              <a:rPr lang="ko-KR" altLang="en-US" sz="1600" b="1" dirty="0">
                <a:ea typeface="맑은 고딕"/>
              </a:rPr>
              <a:t> 기본기 갖추기에 집중하여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매출 성장 및 영업이익 흑자를</a:t>
            </a:r>
            <a:r>
              <a:rPr lang="en-US" altLang="ko-KR" sz="1600" b="1" dirty="0">
                <a:ea typeface="맑은 고딕"/>
              </a:rPr>
              <a:t> </a:t>
            </a:r>
            <a:r>
              <a:rPr lang="ko-KR" altLang="en-US" sz="1600" b="1" dirty="0">
                <a:ea typeface="맑은 고딕"/>
              </a:rPr>
              <a:t>달성했습니다</a:t>
            </a:r>
            <a:r>
              <a:rPr lang="en-US" altLang="ko-KR" sz="1600" b="1" dirty="0">
                <a:ea typeface="맑은 고딕"/>
              </a:rPr>
              <a:t>. </a:t>
            </a:r>
            <a:br>
              <a:rPr lang="en-US" altLang="ko-KR" sz="1600" b="1" dirty="0">
                <a:ea typeface="맑은 고딕"/>
              </a:rPr>
            </a:br>
            <a:r>
              <a:rPr lang="ko-KR" altLang="en-US" sz="1600" b="1" dirty="0">
                <a:ea typeface="맑은 고딕"/>
              </a:rPr>
              <a:t>다만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고객 지표는 악화되지는 않으나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개선이 </a:t>
            </a:r>
            <a:r>
              <a:rPr lang="ko-KR" altLang="en-US" sz="1600" b="1" dirty="0" err="1">
                <a:ea typeface="맑은 고딕"/>
              </a:rPr>
              <a:t>뚜렸하지도</a:t>
            </a:r>
            <a:r>
              <a:rPr lang="ko-KR" altLang="en-US" sz="1600" b="1" dirty="0">
                <a:ea typeface="맑은 고딕"/>
              </a:rPr>
              <a:t> 않습니다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①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  <a:endParaRPr lang="ko-KR" altLang="en-US" sz="12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3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316A1-BADD-4900-83D1-0B1F3D6DFFFB}"/>
              </a:ext>
            </a:extLst>
          </p:cNvPr>
          <p:cNvSpPr txBox="1"/>
          <p:nvPr/>
        </p:nvSpPr>
        <p:spPr>
          <a:xfrm>
            <a:off x="629266" y="2762865"/>
            <a:ext cx="3460953" cy="25496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이커머스</a:t>
            </a:r>
            <a:r>
              <a:rPr lang="ko-KR" altLang="en-US" sz="1200" b="1" dirty="0"/>
              <a:t> 표준적 물류 경험 제공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다이소만의</a:t>
            </a:r>
            <a:r>
              <a:rPr lang="ko-KR" altLang="en-US" sz="1200" b="1" dirty="0"/>
              <a:t> 온라인 마케팅 방법론 수립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전략 상품 중심의 성장 추진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효율적 사업구조 수립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31C3E-3040-4861-8871-D31D704AE71E}"/>
              </a:ext>
            </a:extLst>
          </p:cNvPr>
          <p:cNvSpPr txBox="1"/>
          <p:nvPr/>
        </p:nvSpPr>
        <p:spPr>
          <a:xfrm>
            <a:off x="1204451" y="2546896"/>
            <a:ext cx="231058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24</a:t>
            </a:r>
            <a:r>
              <a:rPr lang="ko-KR" altLang="en-US" sz="1200" b="1" dirty="0"/>
              <a:t>년</a:t>
            </a:r>
            <a:r>
              <a:rPr lang="en-US" altLang="ko-KR" sz="1200" b="1" dirty="0"/>
              <a:t>~26</a:t>
            </a:r>
            <a:r>
              <a:rPr lang="ko-KR" altLang="en-US" sz="1200" b="1" dirty="0"/>
              <a:t>년 주요 추진 과제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6D2189-2095-4F0E-AB74-171541064B5D}"/>
              </a:ext>
            </a:extLst>
          </p:cNvPr>
          <p:cNvSpPr/>
          <p:nvPr/>
        </p:nvSpPr>
        <p:spPr>
          <a:xfrm>
            <a:off x="4670323" y="1806481"/>
            <a:ext cx="953729" cy="7833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재무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성과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F75C31-9BEC-407B-A31A-24B1203619FF}"/>
              </a:ext>
            </a:extLst>
          </p:cNvPr>
          <p:cNvSpPr/>
          <p:nvPr/>
        </p:nvSpPr>
        <p:spPr>
          <a:xfrm>
            <a:off x="4670322" y="4328803"/>
            <a:ext cx="953729" cy="7833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고객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지표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38683" y="4749427"/>
            <a:ext cx="2336144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1">
                <a:solidFill>
                  <a:srgbClr val="595959"/>
                </a:solidFill>
                <a:latin typeface="맑은 고딕"/>
                <a:ea typeface="맑은 고딕"/>
              </a:rPr>
              <a:t>회원 구성 (2026년 8월)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38683" y="5045869"/>
            <a:ext cx="2336144" cy="59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2600" b="1">
                <a:solidFill>
                  <a:srgbClr val="009A9A"/>
                </a:solidFill>
                <a:latin typeface="맑은 고딕"/>
                <a:ea typeface="맑은 고딕"/>
              </a:rPr>
              <a:t>61%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38683" y="5638754"/>
            <a:ext cx="2336144" cy="256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0">
                <a:solidFill>
                  <a:srgbClr val="0F172A"/>
                </a:solidFill>
                <a:latin typeface="맑은 고딕"/>
                <a:ea typeface="맑은 고딕"/>
              </a:rPr>
              <a:t>구매 경험 없음 567만 / 전체 926만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38683" y="5974723"/>
            <a:ext cx="1429720" cy="316205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368403" y="5974723"/>
            <a:ext cx="906424" cy="31620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993547" y="5974723"/>
            <a:ext cx="1401686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850" b="1">
                <a:solidFill>
                  <a:srgbClr val="FFFFFF"/>
                </a:solidFill>
                <a:latin typeface="맑은 고딕"/>
                <a:ea typeface="맑은 고딕"/>
              </a:rPr>
              <a:t>미구매 567만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68403" y="5974723"/>
            <a:ext cx="906424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50" b="0">
                <a:solidFill>
                  <a:srgbClr val="0F172A"/>
                </a:solidFill>
                <a:latin typeface="맑은 고딕"/>
                <a:ea typeface="맑은 고딕"/>
              </a:rPr>
              <a:t>구매 359만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38683" y="6369979"/>
            <a:ext cx="2336144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800" b="0">
                <a:solidFill>
                  <a:srgbClr val="A6A6A6"/>
                </a:solidFill>
                <a:latin typeface="맑은 고딕"/>
                <a:ea typeface="맑은 고딕"/>
              </a:rPr>
              <a:t>온·오프 통합회원제 특성상 순수 온라인 회원 아님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87203" y="4749427"/>
            <a:ext cx="2760899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1">
                <a:solidFill>
                  <a:srgbClr val="595959"/>
                </a:solidFill>
                <a:latin typeface="맑은 고딕"/>
                <a:ea typeface="맑은 고딕"/>
              </a:rPr>
              <a:t>코호트 잔존율 — 11%에 수렴</a:t>
            </a:r>
          </a:p>
        </p:txBody>
      </p:sp>
      <p:graphicFrame>
        <p:nvGraphicFramePr>
          <p:cNvPr id="110" name="Chart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31813"/>
              </p:ext>
            </p:extLst>
          </p:nvPr>
        </p:nvGraphicFramePr>
        <p:xfrm>
          <a:off x="8487203" y="5026106"/>
          <a:ext cx="2760899" cy="1422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8487203" y="6449031"/>
            <a:ext cx="2760899" cy="256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* 코호트 실측 범위 기반 개략 곡선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92812-E13B-40CD-8262-1EB192FD5095}"/>
              </a:ext>
            </a:extLst>
          </p:cNvPr>
          <p:cNvSpPr txBox="1"/>
          <p:nvPr/>
        </p:nvSpPr>
        <p:spPr>
          <a:xfrm>
            <a:off x="5751576" y="1808163"/>
            <a:ext cx="480974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23</a:t>
            </a:r>
            <a:r>
              <a:rPr lang="ko-KR" altLang="en-US" sz="1200" b="1" dirty="0"/>
              <a:t>년 </a:t>
            </a:r>
            <a:r>
              <a:rPr lang="en-US" altLang="ko-KR" sz="1200" b="1" dirty="0"/>
              <a:t>BCG</a:t>
            </a:r>
            <a:r>
              <a:rPr lang="ko-KR" altLang="en-US" sz="1200" b="1" dirty="0"/>
              <a:t>와 수립한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개년 목표 초과 달성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58672-8D77-4D3A-B318-B7B8AEE872CC}"/>
              </a:ext>
            </a:extLst>
          </p:cNvPr>
          <p:cNvSpPr txBox="1"/>
          <p:nvPr/>
        </p:nvSpPr>
        <p:spPr>
          <a:xfrm>
            <a:off x="5788486" y="4330442"/>
            <a:ext cx="545961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회원수는 지속 성장하나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미구매</a:t>
            </a:r>
            <a:r>
              <a:rPr lang="ko-KR" altLang="en-US" sz="1200" b="1" dirty="0"/>
              <a:t> 회원이 많고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잔존율은 </a:t>
            </a:r>
            <a:r>
              <a:rPr lang="en-US" altLang="ko-KR" sz="1200" b="1" dirty="0"/>
              <a:t>11% </a:t>
            </a:r>
            <a:r>
              <a:rPr lang="ko-KR" altLang="en-US" sz="1200" b="1" dirty="0"/>
              <a:t>수렴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870670B3-5D45-4C80-A80B-133ED096F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295632"/>
              </p:ext>
            </p:extLst>
          </p:nvPr>
        </p:nvGraphicFramePr>
        <p:xfrm>
          <a:off x="5938683" y="2527558"/>
          <a:ext cx="3105926" cy="1919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C3E2B1DF-0337-4676-95A6-FA2EF6F1F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441478"/>
              </p:ext>
            </p:extLst>
          </p:nvPr>
        </p:nvGraphicFramePr>
        <p:xfrm>
          <a:off x="9194806" y="2527557"/>
          <a:ext cx="2971800" cy="1919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7A855C-3C75-4C25-8384-6CB1AD789BA8}"/>
              </a:ext>
            </a:extLst>
          </p:cNvPr>
          <p:cNvSpPr txBox="1"/>
          <p:nvPr/>
        </p:nvSpPr>
        <p:spPr>
          <a:xfrm>
            <a:off x="9194806" y="3417458"/>
            <a:ext cx="47818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/>
              <a:t>실적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0EE037-E7A0-4DDF-879D-01B81F677C5F}"/>
              </a:ext>
            </a:extLst>
          </p:cNvPr>
          <p:cNvSpPr txBox="1"/>
          <p:nvPr/>
        </p:nvSpPr>
        <p:spPr>
          <a:xfrm>
            <a:off x="9194806" y="3660048"/>
            <a:ext cx="47818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계획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CF4AF-9386-4FE5-9211-A2A36093DF3E}"/>
              </a:ext>
            </a:extLst>
          </p:cNvPr>
          <p:cNvSpPr txBox="1"/>
          <p:nvPr/>
        </p:nvSpPr>
        <p:spPr>
          <a:xfrm>
            <a:off x="6808304" y="2196550"/>
            <a:ext cx="146652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매출액 실적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B9FC56-9823-4875-9FEF-02242F07DC9A}"/>
              </a:ext>
            </a:extLst>
          </p:cNvPr>
          <p:cNvSpPr txBox="1"/>
          <p:nvPr/>
        </p:nvSpPr>
        <p:spPr>
          <a:xfrm>
            <a:off x="9867652" y="2200724"/>
            <a:ext cx="146652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/>
              <a:t>[ </a:t>
            </a:r>
            <a:r>
              <a:rPr lang="ko-KR" altLang="en-US" sz="1200" b="1" dirty="0"/>
              <a:t>영업이익 실적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2665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현재 추이로는 </a:t>
            </a:r>
            <a:r>
              <a:rPr lang="en-US" altLang="ko-KR" sz="1600" b="1" dirty="0">
                <a:ea typeface="맑은 고딕"/>
              </a:rPr>
              <a:t>5</a:t>
            </a:r>
            <a:r>
              <a:rPr lang="ko-KR" altLang="en-US" sz="1600" b="1" dirty="0">
                <a:ea typeface="맑은 고딕"/>
              </a:rPr>
              <a:t>년 후 매출은 </a:t>
            </a:r>
            <a:r>
              <a:rPr lang="en-US" altLang="ko-KR" sz="1600" b="1" dirty="0">
                <a:ea typeface="맑은 고딕"/>
              </a:rPr>
              <a:t>6</a:t>
            </a:r>
            <a:r>
              <a:rPr lang="ko-KR" altLang="en-US" sz="1600" b="1" dirty="0">
                <a:ea typeface="맑은 고딕"/>
              </a:rPr>
              <a:t>천억 수준이 될 것으로 추정됩니다</a:t>
            </a:r>
            <a:r>
              <a:rPr lang="en-US" altLang="ko-KR" sz="1600" b="1" dirty="0">
                <a:ea typeface="맑은 고딕"/>
              </a:rPr>
              <a:t>.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고객의 재구매율과 구매빈도를 올릴 수 있는 혁신 </a:t>
            </a:r>
            <a:r>
              <a:rPr lang="en-US" altLang="ko-KR" sz="1600" b="1" dirty="0">
                <a:ea typeface="맑은 고딕"/>
              </a:rPr>
              <a:t>Drive</a:t>
            </a:r>
            <a:r>
              <a:rPr lang="ko-KR" altLang="en-US" sz="1600" b="1" dirty="0">
                <a:ea typeface="맑은 고딕"/>
              </a:rPr>
              <a:t>를 추진할 경우 </a:t>
            </a:r>
            <a:r>
              <a:rPr lang="en-US" altLang="ko-KR" sz="1600" b="1" dirty="0">
                <a:ea typeface="맑은 고딕"/>
              </a:rPr>
              <a:t>1</a:t>
            </a:r>
            <a:r>
              <a:rPr lang="ko-KR" altLang="en-US" sz="1600" b="1" dirty="0">
                <a:ea typeface="맑은 고딕"/>
              </a:rPr>
              <a:t>조원까지 성장할 수 있습니다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4</a:t>
            </a:fld>
            <a:r>
              <a:rPr lang="en-US" altLang="ko-KR"/>
              <a:t> l 21</a:t>
            </a:r>
            <a:endParaRPr lang="ko-KR" altLang="en-US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CD06AB3F-C168-46B5-A6DD-1F8E6887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427628"/>
              </p:ext>
            </p:extLst>
          </p:nvPr>
        </p:nvGraphicFramePr>
        <p:xfrm>
          <a:off x="838200" y="2329455"/>
          <a:ext cx="10515600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2031년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신규 구매고객 (만명, 12월)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-0.5% 감쇠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고객 수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(</a:t>
                      </a: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만명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, 12</a:t>
                      </a: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월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1,566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2,048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2,269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+ 미전환 회원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596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(만명, 연말)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전월 누적 + 신규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증가율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잔존율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구매빈도 (건/월)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객단가 (원)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 구매고객 (만명, 12월)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+ 누적 × 잔존율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(억원)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3,100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3,800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4,459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5,081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5,665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성장률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+64%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+17%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535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②</a:t>
            </a:r>
            <a:r>
              <a:rPr lang="en-US" altLang="ko-KR" dirty="0"/>
              <a:t> </a:t>
            </a:r>
            <a:r>
              <a:rPr lang="ko-KR" altLang="en-US" dirty="0"/>
              <a:t>미래 성장 추정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86596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시장 환경 및 고객 행동 분석을 통해 회원수와 구매빈도를 성장시킬 수 있는 </a:t>
            </a:r>
            <a:r>
              <a:rPr lang="en-US" altLang="ko-KR" sz="1600" b="1" dirty="0">
                <a:ea typeface="맑은 고딕"/>
              </a:rPr>
              <a:t>3</a:t>
            </a:r>
            <a:r>
              <a:rPr lang="ko-KR" altLang="en-US" sz="1600" b="1" dirty="0">
                <a:ea typeface="맑은 고딕"/>
              </a:rPr>
              <a:t>개의 기회요인을 발견했습니다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5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535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③</a:t>
            </a:r>
            <a:r>
              <a:rPr lang="en-US" altLang="ko-KR" dirty="0"/>
              <a:t> </a:t>
            </a:r>
            <a:r>
              <a:rPr lang="ko-KR" altLang="en-US" dirty="0"/>
              <a:t>성장 기회 요인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333705" y="2212258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인증 편의성 제고 時 </a:t>
            </a:r>
            <a:r>
              <a:rPr lang="ko-KR" altLang="en-US" sz="1200" b="1" dirty="0" err="1"/>
              <a:t>회원수</a:t>
            </a:r>
            <a:r>
              <a:rPr lang="ko-KR" altLang="en-US" sz="1200" b="1" dirty="0"/>
              <a:t> 확대 가능성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4541912" y="2212258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업계 최고 수준의 배송으로 야간 매출 활성화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8E4F3-BFE8-460A-81CB-4E7E27921C52}"/>
              </a:ext>
            </a:extLst>
          </p:cNvPr>
          <p:cNvSpPr txBox="1"/>
          <p:nvPr/>
        </p:nvSpPr>
        <p:spPr>
          <a:xfrm>
            <a:off x="8311779" y="2212257"/>
            <a:ext cx="3491043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무료배송 장바구니를 </a:t>
            </a:r>
            <a:r>
              <a:rPr lang="ko-KR" altLang="en-US" sz="1200" b="1" dirty="0" err="1"/>
              <a:t>못채운</a:t>
            </a:r>
            <a:r>
              <a:rPr lang="ko-KR" altLang="en-US" sz="1200" b="1" dirty="0"/>
              <a:t> 고객을</a:t>
            </a:r>
            <a:br>
              <a:rPr lang="en-US" altLang="ko-KR" sz="1200" b="1" dirty="0"/>
            </a:br>
            <a:r>
              <a:rPr lang="ko-KR" altLang="en-US" sz="1200" b="1" dirty="0"/>
              <a:t>당겨올 수 있는 방안 마련 필요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전체 </a:t>
            </a:r>
            <a:r>
              <a:rPr lang="en-US" altLang="ko-KR" sz="1200" dirty="0"/>
              <a:t>180</a:t>
            </a:r>
            <a:r>
              <a:rPr lang="ko-KR" altLang="en-US" sz="1200" dirty="0"/>
              <a:t>만명의 고객이 쇼핑 중이나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이중 </a:t>
            </a:r>
            <a:r>
              <a:rPr lang="en-US" altLang="ko-KR" sz="1200" dirty="0"/>
              <a:t>1%</a:t>
            </a:r>
            <a:r>
              <a:rPr lang="ko-KR" altLang="en-US" sz="1200" dirty="0"/>
              <a:t>만이 매일 쇼핑을 완료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무료배송 기준을 </a:t>
            </a:r>
            <a:r>
              <a:rPr lang="ko-KR" altLang="en-US" sz="1200" dirty="0" err="1"/>
              <a:t>못채운</a:t>
            </a:r>
            <a:r>
              <a:rPr lang="ko-KR" altLang="en-US" sz="1200" dirty="0"/>
              <a:t> 고객은 </a:t>
            </a:r>
            <a:r>
              <a:rPr lang="en-US" altLang="ko-KR" sz="1200" dirty="0"/>
              <a:t>0.4%</a:t>
            </a:r>
            <a:r>
              <a:rPr lang="ko-KR" altLang="en-US" sz="1200" dirty="0"/>
              <a:t>만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주문 하고</a:t>
            </a:r>
            <a:r>
              <a:rPr lang="en-US" altLang="ko-KR" sz="1200" dirty="0"/>
              <a:t>, </a:t>
            </a:r>
            <a:r>
              <a:rPr lang="ko-KR" altLang="en-US" sz="1200" dirty="0"/>
              <a:t>채운 고객은 </a:t>
            </a:r>
            <a:r>
              <a:rPr lang="en-US" altLang="ko-KR" sz="1200" dirty="0"/>
              <a:t>3.1%</a:t>
            </a:r>
            <a:r>
              <a:rPr lang="ko-KR" altLang="en-US" sz="1200" dirty="0"/>
              <a:t>가 주문 전환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E978E-DEE2-4253-B53B-FC5B2D3F11C8}"/>
              </a:ext>
            </a:extLst>
          </p:cNvPr>
          <p:cNvSpPr txBox="1"/>
          <p:nvPr/>
        </p:nvSpPr>
        <p:spPr>
          <a:xfrm>
            <a:off x="552876" y="6059526"/>
            <a:ext cx="3059004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SNS</a:t>
            </a:r>
            <a:r>
              <a:rPr lang="ko-KR" altLang="en-US" sz="1200" b="1" dirty="0"/>
              <a:t> 가입 時 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본인인증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과 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정보입력</a:t>
            </a:r>
            <a:r>
              <a:rPr lang="en-US" altLang="ko-KR" sz="1200" b="1" dirty="0"/>
              <a:t>“ </a:t>
            </a:r>
            <a:br>
              <a:rPr lang="en-US" altLang="ko-KR" sz="1200" b="1" dirty="0"/>
            </a:br>
            <a:r>
              <a:rPr lang="ko-KR" altLang="en-US" sz="1200" b="1" dirty="0"/>
              <a:t>생략하여 회원 </a:t>
            </a:r>
            <a:r>
              <a:rPr lang="ko-KR" altLang="en-US" sz="1200" b="1" dirty="0" err="1"/>
              <a:t>가입율</a:t>
            </a:r>
            <a:r>
              <a:rPr lang="ko-KR" altLang="en-US" sz="1200" b="1" dirty="0"/>
              <a:t> 증가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1885F-C2DB-450A-BF86-5398197154C3}"/>
              </a:ext>
            </a:extLst>
          </p:cNvPr>
          <p:cNvSpPr txBox="1"/>
          <p:nvPr/>
        </p:nvSpPr>
        <p:spPr>
          <a:xfrm>
            <a:off x="4402500" y="6059526"/>
            <a:ext cx="305900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익일 배송 보장으로 야간 주문 활성화</a:t>
            </a:r>
          </a:p>
        </p:txBody>
      </p:sp>
      <p:graphicFrame>
        <p:nvGraphicFramePr>
          <p:cNvPr id="93" name="Chart 92"/>
          <p:cNvGraphicFramePr>
            <a:graphicFrameLocks noGrp="1"/>
          </p:cNvGraphicFramePr>
          <p:nvPr/>
        </p:nvGraphicFramePr>
        <p:xfrm>
          <a:off x="552876" y="2920813"/>
          <a:ext cx="2967564" cy="2772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596182" y="3354368"/>
            <a:ext cx="649342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맑은 고딕"/>
                <a:ea typeface="맑은 고딕"/>
              </a:rPr>
              <a:t>84.5만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4084" y="3198920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−4.1만</a:t>
            </a:r>
          </a:p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4.9%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11986" y="3273958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D0021B"/>
                </a:solidFill>
                <a:latin typeface="맑은 고딕"/>
                <a:ea typeface="맑은 고딕"/>
              </a:rPr>
              <a:t>−21.3만</a:t>
            </a:r>
          </a:p>
          <a:p>
            <a:pPr algn="ctr"/>
            <a:r>
              <a:rPr lang="ko-KR" sz="850" b="1">
                <a:solidFill>
                  <a:srgbClr val="D0021B"/>
                </a:solidFill>
                <a:latin typeface="맑은 고딕"/>
                <a:ea typeface="맑은 고딕"/>
              </a:rPr>
              <a:t>26.5%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69889" y="3663785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−6.7만</a:t>
            </a:r>
          </a:p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11.3%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27791" y="3941854"/>
            <a:ext cx="649342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009A9A"/>
                </a:solidFill>
                <a:latin typeface="맑은 고딕"/>
                <a:ea typeface="맑은 고딕"/>
              </a:rPr>
              <a:t>52.4만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15732" y="2954483"/>
            <a:ext cx="221775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50" b="1">
                <a:solidFill>
                  <a:srgbClr val="595959"/>
                </a:solidFill>
                <a:latin typeface="맑은 고딕"/>
                <a:ea typeface="맑은 고딕"/>
              </a:rPr>
              <a:t>주문일 (D일)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87132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0시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41571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6시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96010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12시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50449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18시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04888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24시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15732" y="3375107"/>
            <a:ext cx="2217756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111160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665599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220038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774477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328916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02500" y="3564899"/>
            <a:ext cx="65836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세종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온라인센터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dirty="0" err="1">
                <a:solidFill>
                  <a:srgbClr val="0F172A"/>
                </a:solidFill>
                <a:latin typeface="맑은 고딕"/>
                <a:ea typeface="맑은 고딕"/>
              </a:rPr>
              <a:t>쿠팡</a:t>
            </a: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 수준</a:t>
            </a:r>
            <a: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  <a:t>)</a:t>
            </a:r>
            <a:endParaRPr lang="ko-KR" sz="1000" b="1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115732" y="3557987"/>
            <a:ext cx="2217756" cy="475488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115732" y="3557987"/>
            <a:ext cx="221775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자정까지 주문  →  D+1 도착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02500" y="4574531"/>
            <a:ext cx="65836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안성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온라인센터</a:t>
            </a:r>
            <a:endParaRPr lang="ko-KR" sz="1000" b="1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115732" y="4490675"/>
            <a:ext cx="1108878" cy="47548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115732" y="4490675"/>
            <a:ext cx="110887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D+1 도착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24610" y="4490675"/>
            <a:ext cx="1108878" cy="475488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24610" y="4490675"/>
            <a:ext cx="110887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D+2 도착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13130" y="4984451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1">
                <a:solidFill>
                  <a:srgbClr val="595959"/>
                </a:solidFill>
                <a:latin typeface="맑은 고딕"/>
                <a:ea typeface="맑은 고딕"/>
              </a:rPr>
              <a:t>낮 12시 마감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24610" y="4371803"/>
            <a:ext cx="1108878" cy="10972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224610" y="4335227"/>
            <a:ext cx="10972" cy="82296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322516" y="4335227"/>
            <a:ext cx="10972" cy="82296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224610" y="4179779"/>
            <a:ext cx="110887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00" b="1">
                <a:solidFill>
                  <a:srgbClr val="D0021B"/>
                </a:solidFill>
                <a:latin typeface="맑은 고딕"/>
                <a:ea typeface="맑은 고딕"/>
              </a:rPr>
              <a:t>12시간 차이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02500" y="5222195"/>
            <a:ext cx="29675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D+1 도착 = 주문 다음 날 23:59까지 배송</a:t>
            </a:r>
          </a:p>
        </p:txBody>
      </p:sp>
      <p:sp>
        <p:nvSpPr>
          <p:cNvPr id="125" name="Oval 124"/>
          <p:cNvSpPr/>
          <p:nvPr/>
        </p:nvSpPr>
        <p:spPr>
          <a:xfrm>
            <a:off x="8406355" y="4580429"/>
            <a:ext cx="713232" cy="713232"/>
          </a:xfrm>
          <a:prstGeom prst="ellipse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406355" y="4580429"/>
            <a:ext cx="713232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3만원 이상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45.2만 개</a:t>
            </a:r>
          </a:p>
        </p:txBody>
      </p:sp>
      <p:sp>
        <p:nvSpPr>
          <p:cNvPr id="127" name="Oval 126"/>
          <p:cNvSpPr/>
          <p:nvPr/>
        </p:nvSpPr>
        <p:spPr>
          <a:xfrm>
            <a:off x="8141180" y="5412533"/>
            <a:ext cx="1243584" cy="1243584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141180" y="5412533"/>
            <a:ext cx="1243584" cy="12435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3만원 미만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137.6만 개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9174452" y="4707530"/>
            <a:ext cx="1417320" cy="459028"/>
          </a:xfrm>
          <a:prstGeom prst="rightArrow">
            <a:avLst>
              <a:gd name="adj1" fmla="val 51792"/>
              <a:gd name="adj2" fmla="val 45000"/>
            </a:avLst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b="1" dirty="0"/>
          </a:p>
        </p:txBody>
      </p:sp>
      <p:sp>
        <p:nvSpPr>
          <p:cNvPr id="130" name="Right Arrow 129"/>
          <p:cNvSpPr/>
          <p:nvPr/>
        </p:nvSpPr>
        <p:spPr>
          <a:xfrm>
            <a:off x="9439628" y="5927524"/>
            <a:ext cx="1152144" cy="213601"/>
          </a:xfrm>
          <a:prstGeom prst="rightArrow">
            <a:avLst>
              <a:gd name="adj1" fmla="val 43714"/>
              <a:gd name="adj2" fmla="val 44999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174452" y="4571285"/>
            <a:ext cx="14173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9A9A"/>
                </a:solidFill>
                <a:latin typeface="맑은 고딕"/>
                <a:ea typeface="맑은 고딕"/>
              </a:rPr>
              <a:t>일 전환 3.1%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39628" y="5741717"/>
            <a:ext cx="115214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맑은 고딕"/>
                <a:ea typeface="맑은 고딕"/>
              </a:rPr>
              <a:t>일 전환 0.4%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646636" y="4844712"/>
            <a:ext cx="64280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09A9A"/>
                </a:solidFill>
                <a:latin typeface="맑은 고딕"/>
                <a:ea typeface="맑은 고딕"/>
              </a:rPr>
              <a:t>13,912건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646636" y="5941992"/>
            <a:ext cx="55303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595959"/>
                </a:solidFill>
                <a:latin typeface="맑은 고딕"/>
                <a:ea typeface="맑은 고딕"/>
              </a:rPr>
              <a:t>5,464건</a:t>
            </a:r>
          </a:p>
        </p:txBody>
      </p:sp>
      <p:sp>
        <p:nvSpPr>
          <p:cNvPr id="135" name="Right Bracket 134"/>
          <p:cNvSpPr/>
          <p:nvPr/>
        </p:nvSpPr>
        <p:spPr>
          <a:xfrm>
            <a:off x="11469596" y="4937045"/>
            <a:ext cx="91440" cy="1097280"/>
          </a:xfrm>
          <a:prstGeom prst="rightBracket">
            <a:avLst/>
          </a:prstGeom>
          <a:noFill/>
          <a:ln w="19050">
            <a:solidFill>
              <a:srgbClr val="D00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1606756" y="5266229"/>
            <a:ext cx="45720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0021B"/>
                </a:solidFill>
                <a:latin typeface="맑은 고딕"/>
                <a:ea typeface="맑은 고딕"/>
              </a:rPr>
              <a:t>전환율</a:t>
            </a:r>
          </a:p>
          <a:p>
            <a:pPr algn="l"/>
            <a:r>
              <a:rPr sz="1400" b="1">
                <a:solidFill>
                  <a:srgbClr val="D0021B"/>
                </a:solidFill>
                <a:latin typeface="맑은 고딕"/>
                <a:ea typeface="맑은 고딕"/>
              </a:rPr>
              <a:t>8배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2719D-AC60-4DC8-B593-E2BF6429341B}"/>
              </a:ext>
            </a:extLst>
          </p:cNvPr>
          <p:cNvSpPr txBox="1"/>
          <p:nvPr/>
        </p:nvSpPr>
        <p:spPr>
          <a:xfrm>
            <a:off x="8098898" y="4207426"/>
            <a:ext cx="128586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/>
              <a:t>장바구니 </a:t>
            </a:r>
            <a:r>
              <a:rPr lang="ko-KR" altLang="en-US" sz="1200" b="1" dirty="0" err="1"/>
              <a:t>갯수</a:t>
            </a:r>
            <a:endParaRPr lang="ko-KR" altLang="en-US" sz="1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538428-AA8A-4E5F-8014-B5AE57CC3781}"/>
              </a:ext>
            </a:extLst>
          </p:cNvPr>
          <p:cNvSpPr txBox="1"/>
          <p:nvPr/>
        </p:nvSpPr>
        <p:spPr>
          <a:xfrm>
            <a:off x="10256269" y="4208824"/>
            <a:ext cx="128586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 dirty="0"/>
              <a:t>日주문수량</a:t>
            </a:r>
          </a:p>
        </p:txBody>
      </p:sp>
    </p:spTree>
    <p:extLst>
      <p:ext uri="{BB962C8B-B14F-4D97-AF65-F5344CB8AC3E}">
        <p14:creationId xmlns:p14="http://schemas.microsoft.com/office/powerpoint/2010/main" val="386921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2CCCB64-F665-4C1E-8F03-C3324FD0726E}"/>
              </a:ext>
            </a:extLst>
          </p:cNvPr>
          <p:cNvSpPr/>
          <p:nvPr/>
        </p:nvSpPr>
        <p:spPr>
          <a:xfrm>
            <a:off x="200025" y="2395345"/>
            <a:ext cx="5716143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F40BF9-50AC-4437-96F1-4B665C76905E}"/>
              </a:ext>
            </a:extLst>
          </p:cNvPr>
          <p:cNvSpPr/>
          <p:nvPr/>
        </p:nvSpPr>
        <p:spPr>
          <a:xfrm>
            <a:off x="6251112" y="2395345"/>
            <a:ext cx="5716143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sz="1600" b="1" dirty="0">
                <a:ea typeface="맑은 고딕"/>
              </a:rPr>
              <a:t>26</a:t>
            </a:r>
            <a:r>
              <a:rPr lang="ko-KR" altLang="en-US" sz="1600" b="1" dirty="0">
                <a:ea typeface="맑은 고딕"/>
              </a:rPr>
              <a:t>년 한해 추진하여 성과가 있었던 전문몰은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추가 개설 영역 발굴하여 </a:t>
            </a:r>
            <a:r>
              <a:rPr lang="ko-KR" altLang="en-US" sz="1600" b="1" dirty="0" err="1">
                <a:ea typeface="맑은 고딕"/>
              </a:rPr>
              <a:t>추진필요하며</a:t>
            </a:r>
            <a:endParaRPr lang="en-US" altLang="ko-KR" sz="1600" b="1" dirty="0">
              <a:ea typeface="맑은 고딕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상품 등록은 자동화 확대 및 샘플 확보 강화해 신상품 </a:t>
            </a:r>
            <a:r>
              <a:rPr lang="ko-KR" altLang="en-US" sz="1600" b="1" dirty="0" err="1">
                <a:ea typeface="맑은 고딕"/>
              </a:rPr>
              <a:t>등록률</a:t>
            </a:r>
            <a:r>
              <a:rPr lang="ko-KR" altLang="en-US" sz="1600" b="1" dirty="0">
                <a:ea typeface="맑은 고딕"/>
              </a:rPr>
              <a:t> </a:t>
            </a:r>
            <a:r>
              <a:rPr lang="en-US" altLang="ko-KR" sz="1600" b="1" dirty="0">
                <a:ea typeface="맑은 고딕"/>
              </a:rPr>
              <a:t>90%</a:t>
            </a:r>
            <a:r>
              <a:rPr lang="ko-KR" altLang="en-US" sz="1600" b="1" dirty="0">
                <a:ea typeface="맑은 고딕"/>
              </a:rPr>
              <a:t>까지 </a:t>
            </a:r>
            <a:r>
              <a:rPr lang="ko-KR" altLang="en-US" sz="1600" b="1" dirty="0" err="1">
                <a:ea typeface="맑은 고딕"/>
              </a:rPr>
              <a:t>끌어올려야함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6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535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④</a:t>
            </a:r>
            <a:r>
              <a:rPr lang="en-US" altLang="ko-KR" dirty="0"/>
              <a:t> </a:t>
            </a:r>
            <a:r>
              <a:rPr lang="ko-KR" altLang="en-US" dirty="0"/>
              <a:t>지속 개선 영역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1305752" y="2212258"/>
            <a:ext cx="3504689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전문몰의 추가 확대 </a:t>
            </a:r>
            <a:r>
              <a:rPr lang="en-US" altLang="ko-KR" sz="1200" b="1" dirty="0"/>
              <a:t>]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7356839" y="2212258"/>
            <a:ext cx="3504689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상품 등록 프로세스 혁신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B3CE1F-09A9-46E1-9D60-364974D851EE}"/>
              </a:ext>
            </a:extLst>
          </p:cNvPr>
          <p:cNvSpPr txBox="1"/>
          <p:nvPr/>
        </p:nvSpPr>
        <p:spPr>
          <a:xfrm>
            <a:off x="6377824" y="2880900"/>
            <a:ext cx="5336462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등록 프로세스 반자동화로 진화 추진</a:t>
            </a:r>
            <a:br>
              <a:rPr lang="en-US" altLang="ko-KR" sz="1200" b="1" dirty="0"/>
            </a:br>
            <a:r>
              <a:rPr lang="en-US" altLang="ko-KR" sz="1200" b="1" dirty="0"/>
              <a:t>   - ///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90D10-7906-4A95-82FD-9794E1EBFE07}"/>
              </a:ext>
            </a:extLst>
          </p:cNvPr>
          <p:cNvSpPr txBox="1"/>
          <p:nvPr/>
        </p:nvSpPr>
        <p:spPr>
          <a:xfrm>
            <a:off x="6377824" y="4182352"/>
            <a:ext cx="533646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핵심 병목인 샘플 수급 혁신 필요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004DF-23A6-4385-9C34-9D0CC5CAAB54}"/>
              </a:ext>
            </a:extLst>
          </p:cNvPr>
          <p:cNvSpPr txBox="1"/>
          <p:nvPr/>
        </p:nvSpPr>
        <p:spPr>
          <a:xfrm>
            <a:off x="267994" y="2817769"/>
            <a:ext cx="5336462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전문몰은 고객의 상품탐색을 촉진 중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세분화 통한 고객 만족도 개선 필요</a:t>
            </a:r>
          </a:p>
        </p:txBody>
      </p:sp>
    </p:spTree>
    <p:extLst>
      <p:ext uri="{BB962C8B-B14F-4D97-AF65-F5344CB8AC3E}">
        <p14:creationId xmlns:p14="http://schemas.microsoft.com/office/powerpoint/2010/main" val="478240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2CCCB64-F665-4C1E-8F03-C3324FD0726E}"/>
              </a:ext>
            </a:extLst>
          </p:cNvPr>
          <p:cNvSpPr/>
          <p:nvPr/>
        </p:nvSpPr>
        <p:spPr>
          <a:xfrm>
            <a:off x="200025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F40BF9-50AC-4437-96F1-4B665C76905E}"/>
              </a:ext>
            </a:extLst>
          </p:cNvPr>
          <p:cNvSpPr/>
          <p:nvPr/>
        </p:nvSpPr>
        <p:spPr>
          <a:xfrm>
            <a:off x="4212000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75776B-744F-455A-A63D-75AED3CECC6C}"/>
              </a:ext>
            </a:extLst>
          </p:cNvPr>
          <p:cNvSpPr/>
          <p:nvPr/>
        </p:nvSpPr>
        <p:spPr>
          <a:xfrm>
            <a:off x="8223975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0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7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4807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반성</a:t>
            </a:r>
            <a:r>
              <a:rPr lang="en-US" altLang="ko-KR" dirty="0"/>
              <a:t> </a:t>
            </a:r>
            <a:r>
              <a:rPr lang="ko-KR" altLang="en-US" dirty="0"/>
              <a:t>⑤</a:t>
            </a:r>
            <a:r>
              <a:rPr lang="en-US" altLang="ko-KR" dirty="0"/>
              <a:t> </a:t>
            </a:r>
            <a:r>
              <a:rPr lang="ko-KR" altLang="en-US" dirty="0"/>
              <a:t>잔존 부채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829005" y="2212258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975" indent="-180975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PC </a:t>
            </a:r>
            <a:r>
              <a:rPr lang="ko-KR" altLang="en-US" sz="1200" b="1" dirty="0"/>
              <a:t>사이트 개선 지연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5037212" y="2212258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기능 고도화 과제 지연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8E4F3-BFE8-460A-81CB-4E7E27921C52}"/>
              </a:ext>
            </a:extLst>
          </p:cNvPr>
          <p:cNvSpPr txBox="1"/>
          <p:nvPr/>
        </p:nvSpPr>
        <p:spPr>
          <a:xfrm>
            <a:off x="8984879" y="2212257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운영 프로세스 개선 지연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7D4F65D-E959-479A-95C2-0BBAAB5E85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7994" y="3977279"/>
          <a:ext cx="3603486" cy="197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162">
                  <a:extLst>
                    <a:ext uri="{9D8B030D-6E8A-4147-A177-3AD203B41FA5}">
                      <a16:colId xmlns:a16="http://schemas.microsoft.com/office/drawing/2014/main" val="1841021502"/>
                    </a:ext>
                  </a:extLst>
                </a:gridCol>
                <a:gridCol w="1201162">
                  <a:extLst>
                    <a:ext uri="{9D8B030D-6E8A-4147-A177-3AD203B41FA5}">
                      <a16:colId xmlns:a16="http://schemas.microsoft.com/office/drawing/2014/main" val="444553600"/>
                    </a:ext>
                  </a:extLst>
                </a:gridCol>
                <a:gridCol w="1201162">
                  <a:extLst>
                    <a:ext uri="{9D8B030D-6E8A-4147-A177-3AD203B41FA5}">
                      <a16:colId xmlns:a16="http://schemas.microsoft.com/office/drawing/2014/main" val="888715666"/>
                    </a:ext>
                  </a:extLst>
                </a:gridCol>
              </a:tblGrid>
              <a:tr h="4304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모바일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89538"/>
                  </a:ext>
                </a:extLst>
              </a:tr>
              <a:tr h="6926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속도개선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 →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미시행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583301"/>
                  </a:ext>
                </a:extLst>
              </a:tr>
              <a:tr h="8539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전문몰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뷰티헬스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패션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매장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펫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신상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미시행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0593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9B3CE1F-09A9-46E1-9D60-364974D851EE}"/>
              </a:ext>
            </a:extLst>
          </p:cNvPr>
          <p:cNvSpPr txBox="1"/>
          <p:nvPr/>
        </p:nvSpPr>
        <p:spPr>
          <a:xfrm>
            <a:off x="4338712" y="2880900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검색엔진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내재화 추진 필요</a:t>
            </a:r>
            <a:br>
              <a:rPr lang="en-US" altLang="ko-KR" sz="1200" b="1" dirty="0"/>
            </a:br>
            <a:r>
              <a:rPr lang="en-US" altLang="ko-KR" sz="1200" b="1" dirty="0"/>
              <a:t>   - </a:t>
            </a:r>
            <a:r>
              <a:rPr lang="ko-KR" altLang="en-US" sz="1200" b="1" dirty="0"/>
              <a:t>현재 외부솔루션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다이퀘스트</a:t>
            </a:r>
            <a:r>
              <a:rPr lang="en-US" altLang="ko-KR" sz="1200" b="1" dirty="0"/>
              <a:t>) </a:t>
            </a:r>
            <a:r>
              <a:rPr lang="ko-KR" altLang="en-US" sz="1200" b="1" dirty="0" err="1"/>
              <a:t>사용중</a:t>
            </a:r>
            <a:br>
              <a:rPr lang="en-US" altLang="ko-KR" sz="1200" b="1" dirty="0"/>
            </a:br>
            <a:r>
              <a:rPr lang="en-US" altLang="ko-KR" sz="1200" b="1" dirty="0"/>
              <a:t>   - </a:t>
            </a:r>
            <a:r>
              <a:rPr lang="ko-KR" altLang="en-US" sz="1200" b="1" dirty="0"/>
              <a:t>최적화 어려움 → 기능개선 지연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90D10-7906-4A95-82FD-9794E1EBFE07}"/>
              </a:ext>
            </a:extLst>
          </p:cNvPr>
          <p:cNvSpPr txBox="1"/>
          <p:nvPr/>
        </p:nvSpPr>
        <p:spPr>
          <a:xfrm>
            <a:off x="4338712" y="4182352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</a:t>
            </a:r>
            <a:r>
              <a:rPr lang="en-US" altLang="ko-KR" sz="1200" b="1" dirty="0"/>
              <a:t>API : </a:t>
            </a:r>
            <a:r>
              <a:rPr lang="ko-KR" altLang="en-US" sz="1200" b="1" dirty="0"/>
              <a:t>중복 </a:t>
            </a:r>
            <a:r>
              <a:rPr lang="ko-KR" altLang="en-US" sz="1200" b="1" dirty="0" err="1"/>
              <a:t>개발건</a:t>
            </a:r>
            <a:r>
              <a:rPr lang="ko-KR" altLang="en-US" sz="1200" b="1" dirty="0"/>
              <a:t> 다수 존재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관리 공수 과다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DAF4CF-9C68-42AF-A416-04293361416B}"/>
              </a:ext>
            </a:extLst>
          </p:cNvPr>
          <p:cNvSpPr txBox="1"/>
          <p:nvPr/>
        </p:nvSpPr>
        <p:spPr>
          <a:xfrm>
            <a:off x="4338712" y="5171373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③ 재해복구 시간 단축 필요 </a:t>
            </a:r>
            <a:r>
              <a:rPr lang="en-US" altLang="ko-KR" sz="1200" b="1" dirty="0"/>
              <a:t>: 40</a:t>
            </a:r>
            <a:r>
              <a:rPr lang="ko-KR" altLang="en-US" sz="1200" b="1" dirty="0"/>
              <a:t>분 → </a:t>
            </a:r>
            <a:r>
              <a:rPr lang="en-US" altLang="ko-KR" sz="1200" b="1" dirty="0"/>
              <a:t>30</a:t>
            </a:r>
            <a:r>
              <a:rPr lang="ko-KR" altLang="en-US" sz="1200" b="1" dirty="0"/>
              <a:t>분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장애 발생 時 완전 복구까지 </a:t>
            </a:r>
            <a:r>
              <a:rPr lang="en-US" altLang="ko-KR" sz="1200" dirty="0"/>
              <a:t>40</a:t>
            </a:r>
            <a:r>
              <a:rPr lang="ko-KR" altLang="en-US" sz="1200" dirty="0"/>
              <a:t>분 소요</a:t>
            </a:r>
            <a:br>
              <a:rPr lang="en-US" altLang="ko-KR" sz="1200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절차 개선 및 지속 모의훈련 통해 </a:t>
            </a:r>
            <a:r>
              <a:rPr lang="en-US" altLang="ko-KR" sz="1200" dirty="0"/>
              <a:t>30</a:t>
            </a:r>
            <a:r>
              <a:rPr lang="ko-KR" altLang="en-US" sz="1200" dirty="0"/>
              <a:t>분 추진</a:t>
            </a:r>
            <a:r>
              <a:rPr lang="ko-KR" altLang="en-US" sz="1200" b="1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EF333-27C5-4387-9F29-1A8D4FC7FBCC}"/>
              </a:ext>
            </a:extLst>
          </p:cNvPr>
          <p:cNvSpPr txBox="1"/>
          <p:nvPr/>
        </p:nvSpPr>
        <p:spPr>
          <a:xfrm>
            <a:off x="8346353" y="288089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기능 관련 </a:t>
            </a:r>
            <a:r>
              <a:rPr lang="en-US" altLang="ko-KR" sz="1200" b="1" dirty="0"/>
              <a:t>VOC </a:t>
            </a:r>
            <a:r>
              <a:rPr lang="ko-KR" altLang="en-US" sz="1200" b="1" dirty="0"/>
              <a:t>관련 과제 처리 미흡</a:t>
            </a:r>
            <a:br>
              <a:rPr lang="en-US" altLang="ko-KR" sz="1200" b="1" dirty="0"/>
            </a:br>
            <a:r>
              <a:rPr lang="en-US" altLang="ko-KR" sz="1200" dirty="0"/>
              <a:t>   -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배송</a:t>
            </a:r>
            <a:r>
              <a:rPr lang="en-US" altLang="ko-KR" sz="1200" dirty="0"/>
              <a:t>/</a:t>
            </a:r>
            <a:r>
              <a:rPr lang="ko-KR" altLang="en-US" sz="1200" dirty="0"/>
              <a:t>상품 관련 불만은 </a:t>
            </a:r>
            <a:r>
              <a:rPr lang="en-US" altLang="ko-KR" sz="1200" dirty="0"/>
              <a:t>100% </a:t>
            </a:r>
            <a:r>
              <a:rPr lang="ko-KR" altLang="en-US" sz="1200" dirty="0"/>
              <a:t>처리</a:t>
            </a:r>
            <a:br>
              <a:rPr lang="en-US" altLang="ko-KR" sz="1200" dirty="0"/>
            </a:br>
            <a:r>
              <a:rPr lang="en-US" altLang="ko-KR" sz="1200" dirty="0"/>
              <a:t>   - </a:t>
            </a:r>
            <a:r>
              <a:rPr lang="ko-KR" altLang="en-US" sz="1200" dirty="0" err="1"/>
              <a:t>기능건은</a:t>
            </a:r>
            <a:r>
              <a:rPr lang="ko-KR" altLang="en-US" sz="1200" dirty="0"/>
              <a:t> 과제화 미흡 </a:t>
            </a:r>
            <a:r>
              <a:rPr lang="en-US" altLang="ko-KR" sz="1200" dirty="0"/>
              <a:t>(3</a:t>
            </a:r>
            <a:r>
              <a:rPr lang="ko-KR" altLang="en-US" sz="1200" dirty="0"/>
              <a:t>분기 </a:t>
            </a:r>
            <a:r>
              <a:rPr lang="en-US" altLang="ko-KR" sz="1200" dirty="0"/>
              <a:t>30</a:t>
            </a:r>
            <a:r>
              <a:rPr lang="ko-KR" altLang="en-US" sz="1200" dirty="0"/>
              <a:t>개 수준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004DF-23A6-4385-9C34-9D0CC5CAAB54}"/>
              </a:ext>
            </a:extLst>
          </p:cNvPr>
          <p:cNvSpPr txBox="1"/>
          <p:nvPr/>
        </p:nvSpPr>
        <p:spPr>
          <a:xfrm>
            <a:off x="267994" y="281776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고객 </a:t>
            </a:r>
            <a:r>
              <a:rPr lang="en-US" altLang="ko-KR" sz="1200" b="1" dirty="0"/>
              <a:t>80% </a:t>
            </a:r>
            <a:r>
              <a:rPr lang="ko-KR" altLang="en-US" sz="1200" b="1" dirty="0"/>
              <a:t>사용하는 모바일 앱 중심의 개발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PC</a:t>
            </a:r>
            <a:r>
              <a:rPr lang="ko-KR" altLang="en-US" sz="1200" b="1" dirty="0"/>
              <a:t>는 속도개선 및 </a:t>
            </a:r>
            <a:r>
              <a:rPr lang="ko-KR" altLang="en-US" sz="1200" b="1" dirty="0" err="1"/>
              <a:t>전문몰</a:t>
            </a:r>
            <a:r>
              <a:rPr lang="ko-KR" altLang="en-US" sz="1200" b="1" dirty="0"/>
              <a:t> 개발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미흡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22E47-BB63-4818-A039-82D1FE833A83}"/>
              </a:ext>
            </a:extLst>
          </p:cNvPr>
          <p:cNvSpPr txBox="1"/>
          <p:nvPr/>
        </p:nvSpPr>
        <p:spPr>
          <a:xfrm>
            <a:off x="8346353" y="426519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교환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반품 관련 수동 처리 지속</a:t>
            </a:r>
            <a:br>
              <a:rPr lang="en-US" altLang="ko-KR" sz="1200" b="1" dirty="0"/>
            </a:br>
            <a:r>
              <a:rPr lang="en-US" altLang="ko-KR" sz="1200" dirty="0"/>
              <a:t>   - //</a:t>
            </a:r>
            <a:br>
              <a:rPr lang="en-US" altLang="ko-KR" sz="1200" dirty="0"/>
            </a:br>
            <a:r>
              <a:rPr lang="en-US" altLang="ko-KR" sz="1200" dirty="0"/>
              <a:t>   - ///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9522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F1DC59D2-9398-4B62-BCE3-C84321563003}"/>
              </a:ext>
            </a:extLst>
          </p:cNvPr>
          <p:cNvSpPr/>
          <p:nvPr/>
        </p:nvSpPr>
        <p:spPr>
          <a:xfrm rot="10800000">
            <a:off x="1943100" y="1379627"/>
            <a:ext cx="8248162" cy="1020672"/>
          </a:xfrm>
          <a:prstGeom prst="downArrow">
            <a:avLst>
              <a:gd name="adj1" fmla="val 50000"/>
              <a:gd name="adj2" fmla="val 83596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8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Ⅱ. 27</a:t>
            </a:r>
            <a:r>
              <a:rPr lang="ko-KR" altLang="en-US" b="1" dirty="0"/>
              <a:t>년 추진 전략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8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518205-A191-42D4-AC40-A01473AA554A}"/>
              </a:ext>
            </a:extLst>
          </p:cNvPr>
          <p:cNvSpPr txBox="1"/>
          <p:nvPr/>
        </p:nvSpPr>
        <p:spPr>
          <a:xfrm>
            <a:off x="1263396" y="5802631"/>
            <a:ext cx="2753640" cy="33361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매장 </a:t>
            </a:r>
            <a:r>
              <a:rPr lang="en-US" altLang="ko-KR" sz="1200" b="1" dirty="0"/>
              <a:t>: PC </a:t>
            </a:r>
            <a:r>
              <a:rPr lang="ko-KR" altLang="en-US" sz="1200" b="1" dirty="0"/>
              <a:t>사이트 전면 개편</a:t>
            </a:r>
            <a:endParaRPr lang="en-US" altLang="ko-KR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910570-4B28-4211-9A37-34FFFE8FC109}"/>
              </a:ext>
            </a:extLst>
          </p:cNvPr>
          <p:cNvSpPr txBox="1"/>
          <p:nvPr/>
        </p:nvSpPr>
        <p:spPr>
          <a:xfrm>
            <a:off x="1263397" y="3312948"/>
            <a:ext cx="2753640" cy="18572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t">
            <a:no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전시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추가 </a:t>
            </a:r>
            <a:r>
              <a:rPr lang="ko-KR" altLang="en-US" sz="1200" b="1" dirty="0" err="1"/>
              <a:t>전문몰</a:t>
            </a:r>
            <a:r>
              <a:rPr lang="ko-KR" altLang="en-US" sz="1200" b="1" dirty="0"/>
              <a:t> 확대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 err="1"/>
              <a:t>키즈</a:t>
            </a:r>
            <a:r>
              <a:rPr lang="en-US" altLang="ko-KR" sz="1200" dirty="0"/>
              <a:t>, </a:t>
            </a:r>
            <a:r>
              <a:rPr lang="ko-KR" altLang="en-US" sz="1200" dirty="0"/>
              <a:t>남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녀</a:t>
            </a:r>
            <a:r>
              <a:rPr lang="ko-KR" altLang="en-US" sz="1200" dirty="0"/>
              <a:t> 의류 전문관 등</a:t>
            </a:r>
            <a:endParaRPr lang="en-US" altLang="ko-KR" sz="1200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결품율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50% </a:t>
            </a:r>
            <a:r>
              <a:rPr lang="ko-KR" altLang="en-US" sz="1200" b="1" dirty="0"/>
              <a:t>감축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신상품 적시 </a:t>
            </a:r>
            <a:r>
              <a:rPr lang="ko-KR" altLang="en-US" sz="1200" b="1" dirty="0" err="1"/>
              <a:t>등록율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90%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샘플 적시 확보</a:t>
            </a:r>
            <a:br>
              <a:rPr lang="en-US" altLang="ko-KR" sz="1200" dirty="0"/>
            </a:br>
            <a:r>
              <a:rPr lang="en-US" altLang="ko-KR" sz="1200" dirty="0"/>
              <a:t>- CMS </a:t>
            </a:r>
            <a:r>
              <a:rPr lang="ko-KR" altLang="en-US" sz="1200" dirty="0"/>
              <a:t>통한 등록</a:t>
            </a:r>
            <a:r>
              <a:rPr lang="en-US" altLang="ko-KR" sz="1200" dirty="0"/>
              <a:t> </a:t>
            </a:r>
            <a:r>
              <a:rPr lang="ko-KR" altLang="en-US" sz="1200" dirty="0"/>
              <a:t>자동화</a:t>
            </a:r>
            <a:endParaRPr lang="en-US" altLang="ko-KR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182671-8A9F-4131-8888-431B22244172}"/>
              </a:ext>
            </a:extLst>
          </p:cNvPr>
          <p:cNvSpPr/>
          <p:nvPr/>
        </p:nvSpPr>
        <p:spPr>
          <a:xfrm>
            <a:off x="1263396" y="2307108"/>
            <a:ext cx="2753640" cy="8229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살게 많은 쇼핑몰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택배 </a:t>
            </a:r>
            <a:r>
              <a:rPr lang="ko-KR" altLang="en-US" sz="1400" b="1" dirty="0" err="1">
                <a:solidFill>
                  <a:schemeClr val="tx1"/>
                </a:solidFill>
              </a:rPr>
              <a:t>상품수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2.3</a:t>
            </a:r>
            <a:r>
              <a:rPr lang="ko-KR" altLang="en-US" sz="1400" b="1" dirty="0">
                <a:solidFill>
                  <a:schemeClr val="tx1"/>
                </a:solidFill>
              </a:rPr>
              <a:t>만개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D83846-039D-4946-9BE3-31233E5F16ED}"/>
              </a:ext>
            </a:extLst>
          </p:cNvPr>
          <p:cNvSpPr/>
          <p:nvPr/>
        </p:nvSpPr>
        <p:spPr>
          <a:xfrm>
            <a:off x="4690361" y="2307108"/>
            <a:ext cx="2753640" cy="8229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업계 최고 수준의 서비스</a:t>
            </a:r>
            <a:br>
              <a:rPr lang="en-US" altLang="ko-KR" sz="1400" b="1" dirty="0">
                <a:solidFill>
                  <a:schemeClr val="tx1"/>
                </a:solidFill>
              </a:rPr>
            </a:b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BA75783-2E62-4385-90CC-8862B647DAAA}"/>
              </a:ext>
            </a:extLst>
          </p:cNvPr>
          <p:cNvSpPr/>
          <p:nvPr/>
        </p:nvSpPr>
        <p:spPr>
          <a:xfrm>
            <a:off x="7813040" y="2303346"/>
            <a:ext cx="2753640" cy="8229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고객 기반 확대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</a:rPr>
              <a:t>12</a:t>
            </a:r>
            <a:r>
              <a:rPr lang="ko-KR" altLang="en-US" sz="1400" b="1" dirty="0">
                <a:solidFill>
                  <a:schemeClr val="tx1"/>
                </a:solidFill>
              </a:rPr>
              <a:t>월 </a:t>
            </a:r>
            <a:r>
              <a:rPr lang="ko-KR" altLang="en-US" sz="1400" b="1" dirty="0" err="1">
                <a:solidFill>
                  <a:schemeClr val="tx1"/>
                </a:solidFill>
              </a:rPr>
              <a:t>회원수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//</a:t>
            </a:r>
            <a:r>
              <a:rPr lang="ko-KR" altLang="en-US" sz="1400" b="1" dirty="0">
                <a:solidFill>
                  <a:schemeClr val="tx1"/>
                </a:solidFill>
              </a:rPr>
              <a:t>명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구매고객 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D3790A-DED6-4BDF-B7F3-B0FD624D4D66}"/>
              </a:ext>
            </a:extLst>
          </p:cNvPr>
          <p:cNvSpPr txBox="1"/>
          <p:nvPr/>
        </p:nvSpPr>
        <p:spPr>
          <a:xfrm>
            <a:off x="4690361" y="3312948"/>
            <a:ext cx="2753640" cy="18572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t">
            <a:no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배송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자정이전 주문 익일 배송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배송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무료배송 기준 인하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수익성 기반 下 추진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상반기 효과 검증 후 확대</a:t>
            </a:r>
            <a:endParaRPr lang="en-US" altLang="ko-KR" sz="1200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AI : </a:t>
            </a:r>
            <a:r>
              <a:rPr lang="ko-KR" altLang="en-US" sz="1200" b="1" dirty="0" err="1"/>
              <a:t>다이소만의</a:t>
            </a:r>
            <a:r>
              <a:rPr lang="ko-KR" altLang="en-US" sz="1200" b="1" dirty="0"/>
              <a:t> 문제 해결형 </a:t>
            </a:r>
            <a:r>
              <a:rPr lang="en-US" altLang="ko-KR" sz="1200" b="1" dirty="0"/>
              <a:t>AI </a:t>
            </a:r>
            <a:br>
              <a:rPr lang="en-US" altLang="ko-KR" sz="1200" b="1" dirty="0"/>
            </a:br>
            <a:r>
              <a:rPr lang="en-US" altLang="ko-KR" sz="1200" dirty="0"/>
              <a:t>- CS, </a:t>
            </a:r>
            <a:r>
              <a:rPr lang="ko-KR" altLang="en-US" sz="1200" dirty="0"/>
              <a:t>장바구니 채우기</a:t>
            </a:r>
            <a:endParaRPr lang="en-US" altLang="ko-KR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F23CF8-B598-4F8D-9363-D2A3ACCB28D0}"/>
              </a:ext>
            </a:extLst>
          </p:cNvPr>
          <p:cNvSpPr txBox="1"/>
          <p:nvPr/>
        </p:nvSpPr>
        <p:spPr>
          <a:xfrm>
            <a:off x="7813040" y="3312948"/>
            <a:ext cx="2753640" cy="18572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t">
            <a:no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가입 확대</a:t>
            </a:r>
            <a:br>
              <a:rPr lang="en-US" altLang="ko-KR" sz="1200" b="1" dirty="0"/>
            </a:br>
            <a:r>
              <a:rPr lang="en-US" altLang="ko-KR" sz="1200" b="1" dirty="0"/>
              <a:t>- SNS </a:t>
            </a:r>
            <a:r>
              <a:rPr lang="ko-KR" altLang="en-US" sz="1200" b="1" dirty="0"/>
              <a:t>가입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통한 장애물 제거</a:t>
            </a:r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ko-KR" altLang="en-US" sz="1200" b="1" dirty="0"/>
              <a:t>외국인 위한 이메일 회원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가입</a:t>
            </a:r>
            <a:r>
              <a:rPr lang="en-US" altLang="ko-KR" sz="1200" b="1" dirty="0"/>
              <a:t>~</a:t>
            </a:r>
            <a:r>
              <a:rPr lang="ko-KR" altLang="en-US" sz="1200" b="1" dirty="0"/>
              <a:t>구매</a:t>
            </a:r>
            <a:r>
              <a:rPr lang="en-US" altLang="ko-KR" sz="1200" b="1" dirty="0"/>
              <a:t>~</a:t>
            </a:r>
            <a:r>
              <a:rPr lang="ko-KR" altLang="en-US" sz="1200" b="1" dirty="0"/>
              <a:t>재구매 </a:t>
            </a:r>
            <a:r>
              <a:rPr lang="en-US" altLang="ko-KR" sz="1200" b="1" dirty="0"/>
              <a:t>CRM </a:t>
            </a:r>
            <a:r>
              <a:rPr lang="ko-KR" altLang="en-US" sz="1200" b="1" dirty="0"/>
              <a:t>자동화</a:t>
            </a:r>
            <a:br>
              <a:rPr lang="en-US" altLang="ko-KR" sz="1200" b="1" dirty="0"/>
            </a:br>
            <a:endParaRPr lang="en-US" altLang="ko-KR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514D80-E03F-4C9F-9C60-BF7B9D649028}"/>
              </a:ext>
            </a:extLst>
          </p:cNvPr>
          <p:cNvSpPr/>
          <p:nvPr/>
        </p:nvSpPr>
        <p:spPr>
          <a:xfrm>
            <a:off x="1263396" y="5353128"/>
            <a:ext cx="9303284" cy="333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부채 해소 통한 성장 장애물 제거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B97A25-8AAF-4C9F-BB5D-4098405EB893}"/>
              </a:ext>
            </a:extLst>
          </p:cNvPr>
          <p:cNvSpPr txBox="1"/>
          <p:nvPr/>
        </p:nvSpPr>
        <p:spPr>
          <a:xfrm>
            <a:off x="4690361" y="5802630"/>
            <a:ext cx="2753640" cy="33361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기술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검색 기술 내재화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장애 대응</a:t>
            </a:r>
            <a:endParaRPr lang="en-US" altLang="ko-KR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124B3A-7E0A-4682-A9CC-7E7F927C37BB}"/>
              </a:ext>
            </a:extLst>
          </p:cNvPr>
          <p:cNvSpPr txBox="1"/>
          <p:nvPr/>
        </p:nvSpPr>
        <p:spPr>
          <a:xfrm>
            <a:off x="7813040" y="5796800"/>
            <a:ext cx="2753640" cy="33361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고객 </a:t>
            </a:r>
            <a:r>
              <a:rPr lang="en-US" altLang="ko-KR" sz="1200" b="1" dirty="0"/>
              <a:t>: CS</a:t>
            </a:r>
            <a:r>
              <a:rPr lang="ko-KR" altLang="en-US" sz="1200" b="1" dirty="0"/>
              <a:t> 속도 향상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E7973-7380-48E1-90EB-BD882DEC7B94}"/>
              </a:ext>
            </a:extLst>
          </p:cNvPr>
          <p:cNvSpPr txBox="1"/>
          <p:nvPr/>
        </p:nvSpPr>
        <p:spPr>
          <a:xfrm>
            <a:off x="3571875" y="1704975"/>
            <a:ext cx="5076825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5</a:t>
            </a:r>
            <a:r>
              <a:rPr lang="ko-KR" altLang="en-US" sz="1200" b="1" dirty="0"/>
              <a:t>년 後</a:t>
            </a:r>
            <a:r>
              <a:rPr lang="en-US" altLang="ko-KR" sz="1200" b="1" dirty="0"/>
              <a:t>(2031</a:t>
            </a:r>
            <a:r>
              <a:rPr lang="ko-KR" altLang="en-US" sz="1200" b="1" dirty="0"/>
              <a:t>년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조원 달성을 위한 초석 마련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53CA3A-9DA6-4586-A0F8-3E42085D900E}"/>
              </a:ext>
            </a:extLst>
          </p:cNvPr>
          <p:cNvSpPr txBox="1"/>
          <p:nvPr/>
        </p:nvSpPr>
        <p:spPr>
          <a:xfrm>
            <a:off x="3114675" y="1114425"/>
            <a:ext cx="596265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2027</a:t>
            </a:r>
            <a:r>
              <a:rPr lang="ko-KR" altLang="en-US" sz="1600" b="1" dirty="0"/>
              <a:t>년 매출 </a:t>
            </a:r>
            <a:r>
              <a:rPr lang="en-US" altLang="ko-KR" sz="1600" b="1" dirty="0"/>
              <a:t>3,200</a:t>
            </a:r>
            <a:r>
              <a:rPr lang="ko-KR" altLang="en-US" sz="1600" b="1" dirty="0"/>
              <a:t>억 달성</a:t>
            </a:r>
          </a:p>
        </p:txBody>
      </p:sp>
    </p:spTree>
    <p:extLst>
      <p:ext uri="{BB962C8B-B14F-4D97-AF65-F5344CB8AC3E}">
        <p14:creationId xmlns:p14="http://schemas.microsoft.com/office/powerpoint/2010/main" val="847068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① </a:t>
            </a:r>
            <a:r>
              <a:rPr lang="ko-KR" altLang="en-US" b="1" dirty="0" err="1"/>
              <a:t>결품율</a:t>
            </a:r>
            <a:r>
              <a:rPr lang="ko-KR" altLang="en-US" b="1" dirty="0"/>
              <a:t> </a:t>
            </a:r>
            <a:r>
              <a:rPr lang="en-US" altLang="ko-KR" b="1" dirty="0"/>
              <a:t>50% </a:t>
            </a:r>
            <a:r>
              <a:rPr lang="ko-KR" altLang="en-US" b="1" dirty="0"/>
              <a:t>감축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9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7" name="텍스트 개체 틀 6">
            <a:extLst>
              <a:ext uri="{FF2B5EF4-FFF2-40B4-BE49-F238E27FC236}">
                <a16:creationId xmlns:a16="http://schemas.microsoft.com/office/drawing/2014/main" id="{551FC0D7-6AE1-4090-8086-14067D29FA7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19172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② </a:t>
            </a:r>
            <a:r>
              <a:rPr lang="ko-KR" altLang="en-US" b="1" dirty="0" err="1"/>
              <a:t>전문몰</a:t>
            </a:r>
            <a:r>
              <a:rPr lang="ko-KR" altLang="en-US" b="1" dirty="0"/>
              <a:t> 확대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10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5FB22D4F-B797-40EC-8197-B13B6609A2FD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6878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742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③ 회원가입 장애물 제거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11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FE7DC93-D1A6-4165-B473-D68F96E1AABF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605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5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④ 자동 </a:t>
            </a:r>
            <a:r>
              <a:rPr lang="en-US" altLang="ko-KR" b="1" dirty="0"/>
              <a:t>CRM </a:t>
            </a:r>
            <a:r>
              <a:rPr lang="ko-KR" altLang="en-US" b="1" dirty="0"/>
              <a:t>도입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12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0F92D6CB-B4CA-4CD0-B5D9-36247D70FD36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66189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9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⑤ 익일 배송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13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50E3018-A4A2-41A0-BAA9-8AF702E430A1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02043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2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4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⑥ </a:t>
            </a:r>
            <a:r>
              <a:rPr lang="ko-KR" altLang="en-US" b="1" dirty="0" err="1"/>
              <a:t>무배</a:t>
            </a:r>
            <a:r>
              <a:rPr lang="ko-KR" altLang="en-US" b="1" dirty="0"/>
              <a:t> 기준 인하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14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02DB44F-884C-407B-A402-5087A4E35CD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04894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6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⑦ 문제 해결형 </a:t>
            </a:r>
            <a:r>
              <a:rPr lang="en-US" altLang="ko-KR" b="1" dirty="0"/>
              <a:t>AI</a:t>
            </a:r>
            <a:endParaRPr lang="ko-KR" altLang="en-US" b="1" dirty="0"/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15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4ADE5B4F-CEC4-49E9-8654-98E1C2C57B9D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03138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⑧ 문제 해결형 </a:t>
            </a:r>
            <a:r>
              <a:rPr lang="en-US" altLang="ko-KR" b="1" dirty="0"/>
              <a:t>AI</a:t>
            </a:r>
            <a:endParaRPr lang="ko-KR" altLang="en-US" b="1" dirty="0"/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16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8550CDA4-864B-4983-9FC4-491AC4F11AA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79394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⑨ 부채 해소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17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7756897D-E99F-4803-B13E-CCA5C102A189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09012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31</a:t>
            </a:r>
            <a:r>
              <a:rPr lang="ko-KR" altLang="en-US" b="1" dirty="0"/>
              <a:t>년 주요 지표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5C8462-3947-4AF0-850C-D5E324963502}"/>
              </a:ext>
            </a:extLst>
          </p:cNvPr>
          <p:cNvSpPr txBox="1"/>
          <p:nvPr/>
        </p:nvSpPr>
        <p:spPr>
          <a:xfrm>
            <a:off x="336551" y="637971"/>
            <a:ext cx="1151889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/>
              <a:t>물류 혁신과 서비스 혁신을 통해 성장하는 원년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18</a:t>
            </a:fld>
            <a:r>
              <a:rPr lang="en-US" altLang="ko-KR"/>
              <a:t> l 21</a:t>
            </a:r>
            <a:endParaRPr lang="ko-KR" altLang="en-US" dirty="0"/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786581" y="1808162"/>
          <a:ext cx="10823890" cy="45354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70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2027년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2028년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2029년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2030년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2031년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매출 (억원)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3,100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3,800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4,459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5,081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5,665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3,187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4,264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5,916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7,868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10,011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매출 성장률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+35%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+23%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+17%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+39%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+39%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+27%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회원수 (만명, 연말)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1,302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1,566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1,815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2,048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2,269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1,325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1,674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2,012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2,340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2,662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월 신규 구매고객 (만명,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10.7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10.1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9.5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14.4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13.3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누적 구매고객 (만명, 연말)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678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802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919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1,029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558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732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901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1,065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1,226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활동 구매고객 (만명,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71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122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103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164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195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잔존율 (12월)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11.4%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12.4%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구매빈도 (건/월,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1.48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1.57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1.66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1.81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객단가 (원,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7681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THINKCELLPRESENTATIONDONOTDELETE" val="&lt;?xml version=&quot;1.0&quot; encoding=&quot;UTF-16&quot; standalone=&quot;yes&quot;?&gt;&lt;root reqver=&quot;28224&quot;&gt;&lt;version val=&quot;351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4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80975" indent="-180975">
          <a:lnSpc>
            <a:spcPct val="150000"/>
          </a:lnSpc>
          <a:buFont typeface="Arial" panose="020B0604020202020204" pitchFamily="34" charset="0"/>
          <a:buChar char="•"/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345B86-EBBA-4D41-8A89-0747765B9D25}">
  <we:reference id="wa104380121" version="2.0.0.0" store="ko-KR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DF6325839054091B968FE762E97E1" ma:contentTypeVersion="4" ma:contentTypeDescription="새 문서를 만듭니다." ma:contentTypeScope="" ma:versionID="87ba5a900f05938296de5105c301d5b1">
  <xsd:schema xmlns:xsd="http://www.w3.org/2001/XMLSchema" xmlns:xs="http://www.w3.org/2001/XMLSchema" xmlns:p="http://schemas.microsoft.com/office/2006/metadata/properties" xmlns:ns2="d81390df-f2d4-4bdc-8b83-8119f0d60425" targetNamespace="http://schemas.microsoft.com/office/2006/metadata/properties" ma:root="true" ma:fieldsID="65fd6f65ec8750357d90e6bbd91ae10a" ns2:_="">
    <xsd:import namespace="d81390df-f2d4-4bdc-8b83-8119f0d604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390df-f2d4-4bdc-8b83-8119f0d604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2B7C3D-CEE0-4DA3-AA26-AAADBE11ED3F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d81390df-f2d4-4bdc-8b83-8119f0d60425"/>
  </ds:schemaRefs>
</ds:datastoreItem>
</file>

<file path=customXml/itemProps2.xml><?xml version="1.0" encoding="utf-8"?>
<ds:datastoreItem xmlns:ds="http://schemas.openxmlformats.org/officeDocument/2006/customXml" ds:itemID="{A7AC0194-C9CF-4161-98A2-1845A47A54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390df-f2d4-4bdc-8b83-8119f0d604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F3EA3A-3A6E-4091-AED1-8BE4C09E68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176247</TotalTime>
  <Words>1539</Words>
  <Application>Microsoft Office PowerPoint</Application>
  <PresentationFormat>와이드스크린</PresentationFormat>
  <Paragraphs>385</Paragraphs>
  <Slides>18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이상협</dc:creator>
  <cp:lastModifiedBy>AD2302001P01</cp:lastModifiedBy>
  <cp:revision>7032</cp:revision>
  <cp:lastPrinted>2026-08-31T07:53:02Z</cp:lastPrinted>
  <dcterms:created xsi:type="dcterms:W3CDTF">2023-03-11T01:13:24Z</dcterms:created>
  <dcterms:modified xsi:type="dcterms:W3CDTF">2026-10-07T06:21:41Z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2023-08-13T06:28:57Z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0e31cc1f-f96a-4d48-bf7b-594a7997dffc</vt:lpwstr>
  </property>
  <property fmtid="{D5CDD505-2E9C-101B-9397-08002B2CF9AE}" pid="8" name="MSIP_Label_b0d5c4f4-7a29-4385-b7a5-afbe2154ae6f_ContentBits">
    <vt:lpwstr>0</vt:lpwstr>
  </property>
  <property fmtid="{D5CDD505-2E9C-101B-9397-08002B2CF9AE}" pid="9" name="ContentTypeId">
    <vt:lpwstr>0x010100C5FDF6325839054091B968FE762E97E1</vt:lpwstr>
  </property>
  <property fmtid="{D5CDD505-2E9C-101B-9397-08002B2CF9AE}" pid="10" name="MediaServiceImageTags">
    <vt:lpwstr/>
  </property>
</Properties>
</file>